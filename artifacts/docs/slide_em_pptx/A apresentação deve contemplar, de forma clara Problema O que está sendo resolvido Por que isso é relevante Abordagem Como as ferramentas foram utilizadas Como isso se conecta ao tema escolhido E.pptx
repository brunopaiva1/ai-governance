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1489" y="3446897"/>
            <a:ext cx="12685022" cy="237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7"/>
              </a:lnSpc>
            </a:pPr>
            <a:r>
              <a:rPr lang="en-US" b="true" sz="8847">
                <a:solidFill>
                  <a:srgbClr val="3665B6"/>
                </a:solidFill>
                <a:latin typeface="Poppins Bold"/>
                <a:ea typeface="Poppins Bold"/>
                <a:cs typeface="Poppins Bold"/>
                <a:sym typeface="Poppins Bold"/>
              </a:rPr>
              <a:t>Avanços da IA e Governança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92242" y="6319200"/>
            <a:ext cx="14103668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3179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Mapean</a:t>
            </a:r>
            <a:r>
              <a:rPr lang="en-US" sz="3179">
                <a:solidFill>
                  <a:srgbClr val="4F7662"/>
                </a:solidFill>
                <a:latin typeface="Poppins"/>
                <a:ea typeface="Poppins"/>
                <a:cs typeface="Poppins"/>
                <a:sym typeface="Poppins"/>
              </a:rPr>
              <a:t>do os Impactos Sociais e Éticos da IA via Knowledge Graphs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90600"/>
            <a:ext cx="8315376" cy="51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PPGEEC2327 - TÓPICOS ESPECIAIS EM PROCESSAMENTO INTELIGENTE DA INFORMAÇÃO</a:t>
            </a:r>
          </a:p>
          <a:p>
            <a:pPr algn="l">
              <a:lnSpc>
                <a:spcPts val="2096"/>
              </a:lnSpc>
              <a:spcBef>
                <a:spcPct val="0"/>
              </a:spcBef>
            </a:pPr>
            <a:r>
              <a:rPr lang="en-US" sz="1497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97236" y="8074869"/>
            <a:ext cx="3762064" cy="118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Bruno Paiva</a:t>
            </a:r>
          </a:p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Manoel Neto</a:t>
            </a:r>
          </a:p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Mariana Queiroz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04900"/>
            <a:ext cx="12371143" cy="212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Def</a:t>
            </a: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inição do Problema </a:t>
            </a:r>
          </a:p>
          <a:p>
            <a:pPr algn="l">
              <a:lnSpc>
                <a:spcPts val="793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403053" y="3230587"/>
            <a:ext cx="7268875" cy="3807073"/>
          </a:xfrm>
          <a:custGeom>
            <a:avLst/>
            <a:gdLst/>
            <a:ahLst/>
            <a:cxnLst/>
            <a:rect r="r" b="b" t="t" l="l"/>
            <a:pathLst>
              <a:path h="3807073" w="7268875">
                <a:moveTo>
                  <a:pt x="0" y="0"/>
                </a:moveTo>
                <a:lnTo>
                  <a:pt x="7268875" y="0"/>
                </a:lnTo>
                <a:lnTo>
                  <a:pt x="7268875" y="3807073"/>
                </a:lnTo>
                <a:lnTo>
                  <a:pt x="0" y="3807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173437"/>
            <a:ext cx="9784384" cy="141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ragmentação da informação em fontes multimod</a:t>
            </a: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ais (PDFs, vídeos e artigos)</a:t>
            </a:r>
          </a:p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Como rastrear a influência real entre discursos de inovação e regras de governança?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7603" y="5275582"/>
            <a:ext cx="2295881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37419"/>
            <a:ext cx="9784384" cy="106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Utilizar o G</a:t>
            </a: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raphify para identificar se a diversidade e inclusão impactam a produt</a:t>
            </a: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ividade e como resolver o dilema entre escala tecnológica e direitos éticos.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8894" y="7592214"/>
            <a:ext cx="2321898" cy="2321898"/>
          </a:xfrm>
          <a:custGeom>
            <a:avLst/>
            <a:gdLst/>
            <a:ahLst/>
            <a:cxnLst/>
            <a:rect r="r" b="b" t="t" l="l"/>
            <a:pathLst>
              <a:path h="2321898" w="2321898">
                <a:moveTo>
                  <a:pt x="0" y="0"/>
                </a:moveTo>
                <a:lnTo>
                  <a:pt x="2321898" y="0"/>
                </a:lnTo>
                <a:lnTo>
                  <a:pt x="2321898" y="2321899"/>
                </a:lnTo>
                <a:lnTo>
                  <a:pt x="0" y="23218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44288" y="2426231"/>
            <a:ext cx="8515012" cy="4754215"/>
          </a:xfrm>
          <a:custGeom>
            <a:avLst/>
            <a:gdLst/>
            <a:ahLst/>
            <a:cxnLst/>
            <a:rect r="r" b="b" t="t" l="l"/>
            <a:pathLst>
              <a:path h="4754215" w="8515012">
                <a:moveTo>
                  <a:pt x="0" y="0"/>
                </a:moveTo>
                <a:lnTo>
                  <a:pt x="8515012" y="0"/>
                </a:lnTo>
                <a:lnTo>
                  <a:pt x="8515012" y="4754215"/>
                </a:lnTo>
                <a:lnTo>
                  <a:pt x="0" y="4754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12371143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Abordagem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73437"/>
            <a:ext cx="8522907" cy="141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Col</a:t>
            </a: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eta de fontes heterogêneas (Relatórios d</a:t>
            </a: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a Goldman Sachs, vídeos sobre ética, artigos técnicos).</a:t>
            </a:r>
          </a:p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Processamento via Graphify usando Codex.</a:t>
            </a:r>
          </a:p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Processamento via NotebookLM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3843" y="4935101"/>
            <a:ext cx="7171066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etodologia de Comparação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73528"/>
            <a:ext cx="7279711" cy="176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Aplicação de prompts idênticos para observar como a estrutur</a:t>
            </a: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a do dado (Grafo vs. Texto Plano) altera a resposta final.</a:t>
            </a:r>
          </a:p>
          <a:p>
            <a:pPr algn="l" marL="437217" indent="-218608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Foi usado o Codex com GPT-5.5</a:t>
            </a:r>
          </a:p>
          <a:p>
            <a:pPr algn="l">
              <a:lnSpc>
                <a:spcPts val="283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3422" y="3265006"/>
            <a:ext cx="8467109" cy="5874057"/>
          </a:xfrm>
          <a:custGeom>
            <a:avLst/>
            <a:gdLst/>
            <a:ahLst/>
            <a:cxnLst/>
            <a:rect r="r" b="b" t="t" l="l"/>
            <a:pathLst>
              <a:path h="5874057" w="8467109">
                <a:moveTo>
                  <a:pt x="0" y="0"/>
                </a:moveTo>
                <a:lnTo>
                  <a:pt x="8467109" y="0"/>
                </a:lnTo>
                <a:lnTo>
                  <a:pt x="8467109" y="5874056"/>
                </a:lnTo>
                <a:lnTo>
                  <a:pt x="0" y="5874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95508" y="2782104"/>
            <a:ext cx="5808671" cy="6356958"/>
          </a:xfrm>
          <a:custGeom>
            <a:avLst/>
            <a:gdLst/>
            <a:ahLst/>
            <a:cxnLst/>
            <a:rect r="r" b="b" t="t" l="l"/>
            <a:pathLst>
              <a:path h="6356958" w="5808671">
                <a:moveTo>
                  <a:pt x="0" y="0"/>
                </a:moveTo>
                <a:lnTo>
                  <a:pt x="5808670" y="0"/>
                </a:lnTo>
                <a:lnTo>
                  <a:pt x="580867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12371143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3422" y="2455766"/>
            <a:ext cx="7171066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Graphify output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58916" y="1184505"/>
            <a:ext cx="7219655" cy="8637801"/>
          </a:xfrm>
          <a:custGeom>
            <a:avLst/>
            <a:gdLst/>
            <a:ahLst/>
            <a:cxnLst/>
            <a:rect r="r" b="b" t="t" l="l"/>
            <a:pathLst>
              <a:path h="8637801" w="7219655">
                <a:moveTo>
                  <a:pt x="0" y="0"/>
                </a:moveTo>
                <a:lnTo>
                  <a:pt x="7219655" y="0"/>
                </a:lnTo>
                <a:lnTo>
                  <a:pt x="7219655" y="8637802"/>
                </a:lnTo>
                <a:lnTo>
                  <a:pt x="0" y="8637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099926"/>
            <a:ext cx="8986738" cy="4576553"/>
          </a:xfrm>
          <a:custGeom>
            <a:avLst/>
            <a:gdLst/>
            <a:ahLst/>
            <a:cxnLst/>
            <a:rect r="r" b="b" t="t" l="l"/>
            <a:pathLst>
              <a:path h="4576553" w="8986738">
                <a:moveTo>
                  <a:pt x="0" y="0"/>
                </a:moveTo>
                <a:lnTo>
                  <a:pt x="8986738" y="0"/>
                </a:lnTo>
                <a:lnTo>
                  <a:pt x="8986738" y="4576553"/>
                </a:lnTo>
                <a:lnTo>
                  <a:pt x="0" y="4576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08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12371143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3422" y="2455766"/>
            <a:ext cx="7171066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Prompts e respostas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0581" y="8943179"/>
            <a:ext cx="2516112" cy="29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Codex com Graphify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33654" y="9774682"/>
            <a:ext cx="1561947" cy="29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NotebookLM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2514" y="3281932"/>
            <a:ext cx="8244217" cy="6062093"/>
          </a:xfrm>
          <a:custGeom>
            <a:avLst/>
            <a:gdLst/>
            <a:ahLst/>
            <a:cxnLst/>
            <a:rect r="r" b="b" t="t" l="l"/>
            <a:pathLst>
              <a:path h="6062093" w="8244217">
                <a:moveTo>
                  <a:pt x="0" y="0"/>
                </a:moveTo>
                <a:lnTo>
                  <a:pt x="8244217" y="0"/>
                </a:lnTo>
                <a:lnTo>
                  <a:pt x="8244217" y="6062093"/>
                </a:lnTo>
                <a:lnTo>
                  <a:pt x="0" y="6062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83" t="-748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31992" y="3079868"/>
            <a:ext cx="7354407" cy="351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</a:p>
          <a:p>
            <a:pPr algn="l" marL="357244" indent="-178622" lvl="1">
              <a:lnSpc>
                <a:spcPts val="2316"/>
              </a:lnSpc>
              <a:buFont typeface="Arial"/>
              <a:buChar char="•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Graphify identificou:</a:t>
            </a:r>
          </a:p>
          <a:p>
            <a:pPr algn="l" marL="714488" indent="-238163" lvl="2">
              <a:lnSpc>
                <a:spcPts val="2316"/>
              </a:lnSpc>
              <a:buFont typeface="Arial"/>
              <a:buChar char="⚬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ão existe uma "aresta" direta entre Diversidade e Aumento de Produtividade.</a:t>
            </a:r>
          </a:p>
          <a:p>
            <a:pPr algn="l" marL="714488" indent="-238163" lvl="2">
              <a:lnSpc>
                <a:spcPts val="2316"/>
              </a:lnSpc>
              <a:buFont typeface="Arial"/>
              <a:buChar char="⚬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Há uma relação indireta.</a:t>
            </a:r>
          </a:p>
          <a:p>
            <a:pPr algn="l">
              <a:lnSpc>
                <a:spcPts val="2316"/>
              </a:lnSpc>
            </a:pPr>
          </a:p>
          <a:p>
            <a:pPr algn="l" marL="357244" indent="-178622" lvl="1">
              <a:lnSpc>
                <a:spcPts val="2316"/>
              </a:lnSpc>
              <a:buFont typeface="Arial"/>
              <a:buChar char="•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mapa do conhecimento, a diversidade não "gera" produtividade sozinha; ela "gera" Confiança (Trust), que por sua vez é o que permite que a Produtividade seja destravada.</a:t>
            </a:r>
          </a:p>
          <a:p>
            <a:pPr algn="l">
              <a:lnSpc>
                <a:spcPts val="2316"/>
              </a:lnSpc>
            </a:pPr>
          </a:p>
          <a:p>
            <a:pPr algn="l">
              <a:lnSpc>
                <a:spcPts val="2316"/>
              </a:lnSpc>
            </a:pPr>
          </a:p>
          <a:p>
            <a:pPr algn="l">
              <a:lnSpc>
                <a:spcPts val="231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9046731" y="1754218"/>
            <a:ext cx="8840376" cy="787272"/>
            <a:chOff x="0" y="0"/>
            <a:chExt cx="11787168" cy="1049697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10616352" y="-121119"/>
              <a:ext cx="1049697" cy="1291934"/>
              <a:chOff x="0" y="0"/>
              <a:chExt cx="6604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F766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79375"/>
                <a:ext cx="660400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6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509455" y="0"/>
              <a:ext cx="10563285" cy="1049697"/>
              <a:chOff x="0" y="0"/>
              <a:chExt cx="2753165" cy="2735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53165" cy="273588"/>
              </a:xfrm>
              <a:custGeom>
                <a:avLst/>
                <a:gdLst/>
                <a:ahLst/>
                <a:cxnLst/>
                <a:rect r="r" b="b" t="t" l="l"/>
                <a:pathLst>
                  <a:path h="273588" w="2753165">
                    <a:moveTo>
                      <a:pt x="0" y="0"/>
                    </a:moveTo>
                    <a:lnTo>
                      <a:pt x="2753165" y="0"/>
                    </a:lnTo>
                    <a:lnTo>
                      <a:pt x="2753165" y="273588"/>
                    </a:lnTo>
                    <a:lnTo>
                      <a:pt x="0" y="273588"/>
                    </a:lnTo>
                    <a:close/>
                  </a:path>
                </a:pathLst>
              </a:custGeom>
              <a:solidFill>
                <a:srgbClr val="4F7662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753165" cy="3212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121119" y="-121119"/>
              <a:ext cx="1049697" cy="1291934"/>
              <a:chOff x="0" y="0"/>
              <a:chExt cx="6604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F766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79375"/>
                <a:ext cx="660400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6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772070" y="185590"/>
              <a:ext cx="10300670" cy="701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7"/>
                </a:lnSpc>
                <a:spcBef>
                  <a:spcPct val="0"/>
                </a:spcBef>
              </a:pPr>
              <a:r>
                <a:rPr lang="en-US" b="true" sz="1937">
                  <a:solidFill>
                    <a:srgbClr val="F1F1F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According to the sources, can diversity and inclusion add value and productivity to generative AI?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031992" y="6326371"/>
            <a:ext cx="7146144" cy="286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NotebookLM extraiu a justificativa técnica: "quanto maior a variância (diversidade), menor a chance de erro (média padrão)". Isso transforma diversidade em uma métrica de QA (Quality Assurance).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 aponta que 80% dos projetos de IA falham na fase de prova de conceito por falta de confiança. A diversidade resolve o "código de empatia", permitindo que o projeto avance para a produção.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diversidade aumenta a produtividade ao reduzir o retrabalho e o abandono de projetos.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104900"/>
            <a:ext cx="12371143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3422" y="2455766"/>
            <a:ext cx="7171066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Prompts e respostas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39606"/>
            <a:ext cx="8299874" cy="5818694"/>
          </a:xfrm>
          <a:custGeom>
            <a:avLst/>
            <a:gdLst/>
            <a:ahLst/>
            <a:cxnLst/>
            <a:rect r="r" b="b" t="t" l="l"/>
            <a:pathLst>
              <a:path h="5818694" w="8299874">
                <a:moveTo>
                  <a:pt x="0" y="0"/>
                </a:moveTo>
                <a:lnTo>
                  <a:pt x="8299874" y="0"/>
                </a:lnTo>
                <a:lnTo>
                  <a:pt x="8299874" y="5818694"/>
                </a:lnTo>
                <a:lnTo>
                  <a:pt x="0" y="5818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76543" y="214217"/>
            <a:ext cx="6646601" cy="9608090"/>
          </a:xfrm>
          <a:custGeom>
            <a:avLst/>
            <a:gdLst/>
            <a:ahLst/>
            <a:cxnLst/>
            <a:rect r="r" b="b" t="t" l="l"/>
            <a:pathLst>
              <a:path h="9608090" w="6646601">
                <a:moveTo>
                  <a:pt x="0" y="0"/>
                </a:moveTo>
                <a:lnTo>
                  <a:pt x="6646600" y="0"/>
                </a:lnTo>
                <a:lnTo>
                  <a:pt x="6646600" y="9608090"/>
                </a:lnTo>
                <a:lnTo>
                  <a:pt x="0" y="9608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12371143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3422" y="2455766"/>
            <a:ext cx="7171066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Prompts e respostas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0581" y="9340327"/>
            <a:ext cx="2516112" cy="29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Codex com Graphify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41663" y="9774682"/>
            <a:ext cx="1561947" cy="29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NotebookLM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31992" y="2715540"/>
            <a:ext cx="7509035" cy="380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</a:p>
          <a:p>
            <a:pPr algn="l" marL="357244" indent="-178622" lvl="1">
              <a:lnSpc>
                <a:spcPts val="2316"/>
              </a:lnSpc>
              <a:buFont typeface="Arial"/>
              <a:buChar char="•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Graphify identificou uma tensão entre polos opostos:</a:t>
            </a:r>
          </a:p>
          <a:p>
            <a:pPr algn="l" marL="714488" indent="-238163" lvl="2">
              <a:lnSpc>
                <a:spcPts val="2316"/>
              </a:lnSpc>
              <a:buFont typeface="Arial"/>
              <a:buChar char="⚬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Polo de Avanço (Cluster A): Focado e</a:t>
            </a: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 Generative AI, GDP Increase</a:t>
            </a: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 Task Automation. Representa o vetor de aceleração econômica.</a:t>
            </a:r>
          </a:p>
          <a:p>
            <a:pPr algn="l" marL="714488" indent="-238163" lvl="2">
              <a:lnSpc>
                <a:spcPts val="2316"/>
              </a:lnSpc>
              <a:buFont typeface="Arial"/>
              <a:buChar char="⚬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Polo Ético (Cluster B): Focado em Consent-Based AI, Guardrails e AI Ethics. Representa o vetor de proteção social.</a:t>
            </a:r>
          </a:p>
          <a:p>
            <a:pPr algn="l" marL="357244" indent="-178622" lvl="1">
              <a:lnSpc>
                <a:spcPts val="2316"/>
              </a:lnSpc>
              <a:buFont typeface="Arial"/>
              <a:buChar char="•"/>
            </a:pPr>
            <a:r>
              <a:rPr lang="en-US" sz="16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nó de "Responsible AI Risk" atua como uma ponte obrigatória. Sem passar por ele, a inovação gera riscos que isolam a tecnologia da sociedade.</a:t>
            </a:r>
          </a:p>
          <a:p>
            <a:pPr algn="l">
              <a:lnSpc>
                <a:spcPts val="2316"/>
              </a:lnSpc>
            </a:pPr>
          </a:p>
          <a:p>
            <a:pPr algn="l">
              <a:lnSpc>
                <a:spcPts val="2316"/>
              </a:lnSpc>
            </a:pPr>
          </a:p>
          <a:p>
            <a:pPr algn="l">
              <a:lnSpc>
                <a:spcPts val="2316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8915013" y="1671593"/>
            <a:ext cx="8911492" cy="793606"/>
            <a:chOff x="0" y="0"/>
            <a:chExt cx="11881990" cy="1058141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10701756" y="-122093"/>
              <a:ext cx="1058141" cy="1302327"/>
              <a:chOff x="0" y="0"/>
              <a:chExt cx="6604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F766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79375"/>
                <a:ext cx="660400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6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513554" y="0"/>
              <a:ext cx="10648261" cy="1058141"/>
              <a:chOff x="0" y="0"/>
              <a:chExt cx="2753165" cy="2735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53165" cy="273588"/>
              </a:xfrm>
              <a:custGeom>
                <a:avLst/>
                <a:gdLst/>
                <a:ahLst/>
                <a:cxnLst/>
                <a:rect r="r" b="b" t="t" l="l"/>
                <a:pathLst>
                  <a:path h="273588" w="2753165">
                    <a:moveTo>
                      <a:pt x="0" y="0"/>
                    </a:moveTo>
                    <a:lnTo>
                      <a:pt x="2753165" y="0"/>
                    </a:lnTo>
                    <a:lnTo>
                      <a:pt x="2753165" y="273588"/>
                    </a:lnTo>
                    <a:lnTo>
                      <a:pt x="0" y="273588"/>
                    </a:lnTo>
                    <a:close/>
                  </a:path>
                </a:pathLst>
              </a:custGeom>
              <a:solidFill>
                <a:srgbClr val="4F7662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753165" cy="3212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6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5400000">
              <a:off x="122093" y="-122093"/>
              <a:ext cx="1058141" cy="1302327"/>
              <a:chOff x="0" y="0"/>
              <a:chExt cx="6604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0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6040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4F766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79375"/>
                <a:ext cx="660400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16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78281" y="186930"/>
              <a:ext cx="10383533" cy="703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3"/>
                </a:lnSpc>
                <a:spcBef>
                  <a:spcPct val="0"/>
                </a:spcBef>
              </a:pPr>
              <a:r>
                <a:rPr lang="en-US" b="true" sz="1953">
                  <a:solidFill>
                    <a:srgbClr val="F1F1F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</a:t>
              </a:r>
              <a:r>
                <a:rPr lang="en-US" b="true" sz="1953">
                  <a:solidFill>
                    <a:srgbClr val="F1F1F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 is the dilemma between the advancement of AI and guaranteeing the ethical rights of users and society?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31992" y="6269644"/>
            <a:ext cx="7146144" cy="286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NotebookLM, o  LLM fornece a profundidade narrativa das tensões identificadas no grafo:</a:t>
            </a:r>
          </a:p>
          <a:p>
            <a:pPr algn="l" marL="712470" indent="-237490" lvl="2">
              <a:lnSpc>
                <a:spcPts val="2310"/>
              </a:lnSpc>
              <a:buFont typeface="Arial"/>
              <a:buChar char="⚬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Explica o conflito técnico de que modelos mais potentes (parâmetros em bilhões) tendem a ser menos explicáveis.</a:t>
            </a:r>
          </a:p>
          <a:p>
            <a:pPr algn="l" marL="712470" indent="-237490" lvl="2">
              <a:lnSpc>
                <a:spcPts val="2310"/>
              </a:lnSpc>
              <a:buFont typeface="Arial"/>
              <a:buChar char="⚬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Aponta que a necessidade de alto capital empurra a IA para o setor privado, criando um dilema de governança sobre quem controla a segurança pública.</a:t>
            </a:r>
          </a:p>
          <a:p>
            <a:pPr algn="l" marL="712470" indent="-237490" lvl="2">
              <a:lnSpc>
                <a:spcPts val="2310"/>
              </a:lnSpc>
              <a:buFont typeface="Arial"/>
              <a:buChar char="⚬"/>
            </a:pPr>
            <a:r>
              <a: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Detalha que regulação excessiva pode travar o "boom de produtividade", enquanto a falta dela gera "hollowing out" (esvaziamento) de setores de renda média.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4103981"/>
            <a:ext cx="8647390" cy="5305131"/>
            <a:chOff x="0" y="0"/>
            <a:chExt cx="11529854" cy="70735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29854" cy="7073508"/>
            </a:xfrm>
            <a:custGeom>
              <a:avLst/>
              <a:gdLst/>
              <a:ahLst/>
              <a:cxnLst/>
              <a:rect r="r" b="b" t="t" l="l"/>
              <a:pathLst>
                <a:path h="7073508" w="11529854">
                  <a:moveTo>
                    <a:pt x="0" y="0"/>
                  </a:moveTo>
                  <a:lnTo>
                    <a:pt x="11529854" y="0"/>
                  </a:lnTo>
                  <a:lnTo>
                    <a:pt x="11529854" y="7073508"/>
                  </a:lnTo>
                  <a:lnTo>
                    <a:pt x="0" y="7073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78" t="-9213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63261" y="621810"/>
              <a:ext cx="5288280" cy="3815080"/>
              <a:chOff x="0" y="0"/>
              <a:chExt cx="5288280" cy="38150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47449" y="49875"/>
                <a:ext cx="5190364" cy="3720207"/>
              </a:xfrm>
              <a:custGeom>
                <a:avLst/>
                <a:gdLst/>
                <a:ahLst/>
                <a:cxnLst/>
                <a:rect r="r" b="b" t="t" l="l"/>
                <a:pathLst>
                  <a:path h="3720207" w="5190364">
                    <a:moveTo>
                      <a:pt x="1917241" y="224445"/>
                    </a:moveTo>
                    <a:cubicBezTo>
                      <a:pt x="1590851" y="273975"/>
                      <a:pt x="1547671" y="286675"/>
                      <a:pt x="1489251" y="312075"/>
                    </a:cubicBezTo>
                    <a:cubicBezTo>
                      <a:pt x="1414321" y="346365"/>
                      <a:pt x="1319071" y="403515"/>
                      <a:pt x="1241601" y="456855"/>
                    </a:cubicBezTo>
                    <a:cubicBezTo>
                      <a:pt x="1165401" y="508925"/>
                      <a:pt x="1098091" y="555915"/>
                      <a:pt x="1029511" y="628305"/>
                    </a:cubicBezTo>
                    <a:cubicBezTo>
                      <a:pt x="943151" y="721015"/>
                      <a:pt x="819961" y="911515"/>
                      <a:pt x="779321" y="980095"/>
                    </a:cubicBezTo>
                    <a:cubicBezTo>
                      <a:pt x="764081" y="1005495"/>
                      <a:pt x="762811" y="1006765"/>
                      <a:pt x="751381" y="1035975"/>
                    </a:cubicBezTo>
                    <a:cubicBezTo>
                      <a:pt x="719631" y="1115985"/>
                      <a:pt x="651051" y="1408085"/>
                      <a:pt x="614221" y="1514765"/>
                    </a:cubicBezTo>
                    <a:cubicBezTo>
                      <a:pt x="595171" y="1568105"/>
                      <a:pt x="586281" y="1590965"/>
                      <a:pt x="564691" y="1635415"/>
                    </a:cubicBezTo>
                    <a:cubicBezTo>
                      <a:pt x="536751" y="1692565"/>
                      <a:pt x="502461" y="1757335"/>
                      <a:pt x="455471" y="1827185"/>
                    </a:cubicBezTo>
                    <a:cubicBezTo>
                      <a:pt x="391971" y="1923705"/>
                      <a:pt x="270051" y="2041815"/>
                      <a:pt x="205281" y="2152305"/>
                    </a:cubicBezTo>
                    <a:cubicBezTo>
                      <a:pt x="146861" y="2250095"/>
                      <a:pt x="99871" y="2351695"/>
                      <a:pt x="74471" y="2448215"/>
                    </a:cubicBezTo>
                    <a:cubicBezTo>
                      <a:pt x="52881" y="2533305"/>
                      <a:pt x="51611" y="2623475"/>
                      <a:pt x="49071" y="2699675"/>
                    </a:cubicBezTo>
                    <a:cubicBezTo>
                      <a:pt x="47801" y="2761905"/>
                      <a:pt x="49071" y="2807625"/>
                      <a:pt x="59231" y="2869855"/>
                    </a:cubicBezTo>
                    <a:cubicBezTo>
                      <a:pt x="70661" y="2948595"/>
                      <a:pt x="94791" y="3048925"/>
                      <a:pt x="122731" y="3127665"/>
                    </a:cubicBezTo>
                    <a:cubicBezTo>
                      <a:pt x="148131" y="3198785"/>
                      <a:pt x="177341" y="3272445"/>
                      <a:pt x="214171" y="3325785"/>
                    </a:cubicBezTo>
                    <a:cubicBezTo>
                      <a:pt x="244651" y="3368965"/>
                      <a:pt x="280211" y="3400715"/>
                      <a:pt x="318311" y="3431195"/>
                    </a:cubicBezTo>
                    <a:cubicBezTo>
                      <a:pt x="355141" y="3460405"/>
                      <a:pt x="385621" y="3480725"/>
                      <a:pt x="437691" y="3506125"/>
                    </a:cubicBezTo>
                    <a:cubicBezTo>
                      <a:pt x="521511" y="3546765"/>
                      <a:pt x="676451" y="3600105"/>
                      <a:pt x="784401" y="3629315"/>
                    </a:cubicBezTo>
                    <a:cubicBezTo>
                      <a:pt x="873301" y="3652175"/>
                      <a:pt x="935531" y="3666145"/>
                      <a:pt x="1035861" y="3675035"/>
                    </a:cubicBezTo>
                    <a:cubicBezTo>
                      <a:pt x="1180641" y="3687735"/>
                      <a:pt x="1381301" y="3682655"/>
                      <a:pt x="1574341" y="3671225"/>
                    </a:cubicBezTo>
                    <a:cubicBezTo>
                      <a:pt x="1799131" y="3658525"/>
                      <a:pt x="2125521" y="3626775"/>
                      <a:pt x="2304591" y="3595025"/>
                    </a:cubicBezTo>
                    <a:cubicBezTo>
                      <a:pt x="2410001" y="3575975"/>
                      <a:pt x="2477311" y="3562005"/>
                      <a:pt x="2553511" y="3532795"/>
                    </a:cubicBezTo>
                    <a:cubicBezTo>
                      <a:pt x="2622091" y="3504855"/>
                      <a:pt x="2677971" y="3478185"/>
                      <a:pt x="2741471" y="3428655"/>
                    </a:cubicBezTo>
                    <a:cubicBezTo>
                      <a:pt x="2825291" y="3365155"/>
                      <a:pt x="2902761" y="3240695"/>
                      <a:pt x="2996741" y="3159415"/>
                    </a:cubicBezTo>
                    <a:cubicBezTo>
                      <a:pt x="3090721" y="3078135"/>
                      <a:pt x="3216451" y="3009555"/>
                      <a:pt x="3302811" y="2940975"/>
                    </a:cubicBezTo>
                    <a:cubicBezTo>
                      <a:pt x="3370121" y="2886365"/>
                      <a:pt x="3392981" y="2843185"/>
                      <a:pt x="3476801" y="2784765"/>
                    </a:cubicBezTo>
                    <a:cubicBezTo>
                      <a:pt x="3640631" y="2669195"/>
                      <a:pt x="4041951" y="2472345"/>
                      <a:pt x="4261661" y="2359315"/>
                    </a:cubicBezTo>
                    <a:cubicBezTo>
                      <a:pt x="4417871" y="2279305"/>
                      <a:pt x="4556301" y="2224695"/>
                      <a:pt x="4666791" y="2163735"/>
                    </a:cubicBezTo>
                    <a:cubicBezTo>
                      <a:pt x="4746801" y="2119285"/>
                      <a:pt x="4807761" y="2083725"/>
                      <a:pt x="4867451" y="2038005"/>
                    </a:cubicBezTo>
                    <a:cubicBezTo>
                      <a:pt x="4920791" y="1997365"/>
                      <a:pt x="4975401" y="1944025"/>
                      <a:pt x="5008421" y="1905925"/>
                    </a:cubicBezTo>
                    <a:cubicBezTo>
                      <a:pt x="5030011" y="1880525"/>
                      <a:pt x="5042711" y="1865285"/>
                      <a:pt x="5056681" y="1837345"/>
                    </a:cubicBezTo>
                    <a:cubicBezTo>
                      <a:pt x="5074461" y="1803055"/>
                      <a:pt x="5087161" y="1762415"/>
                      <a:pt x="5099861" y="1710345"/>
                    </a:cubicBezTo>
                    <a:cubicBezTo>
                      <a:pt x="5118911" y="1636685"/>
                      <a:pt x="5135421" y="1510955"/>
                      <a:pt x="5143041" y="1432215"/>
                    </a:cubicBezTo>
                    <a:cubicBezTo>
                      <a:pt x="5149391" y="1375065"/>
                      <a:pt x="5150661" y="1338235"/>
                      <a:pt x="5149391" y="1283625"/>
                    </a:cubicBezTo>
                    <a:cubicBezTo>
                      <a:pt x="5149391" y="1215045"/>
                      <a:pt x="5145581" y="1128685"/>
                      <a:pt x="5135421" y="1053755"/>
                    </a:cubicBezTo>
                    <a:cubicBezTo>
                      <a:pt x="5126531" y="980095"/>
                      <a:pt x="5115101" y="900085"/>
                      <a:pt x="5090971" y="836585"/>
                    </a:cubicBezTo>
                    <a:cubicBezTo>
                      <a:pt x="5069381" y="781975"/>
                      <a:pt x="5035091" y="738795"/>
                      <a:pt x="5003341" y="694345"/>
                    </a:cubicBezTo>
                    <a:cubicBezTo>
                      <a:pt x="4970321" y="649895"/>
                      <a:pt x="4944921" y="614335"/>
                      <a:pt x="4896661" y="572425"/>
                    </a:cubicBezTo>
                    <a:cubicBezTo>
                      <a:pt x="4825541" y="511465"/>
                      <a:pt x="4696001" y="431455"/>
                      <a:pt x="4599481" y="384465"/>
                    </a:cubicBezTo>
                    <a:cubicBezTo>
                      <a:pt x="4518201" y="343825"/>
                      <a:pt x="4444541" y="317155"/>
                      <a:pt x="4363261" y="294295"/>
                    </a:cubicBezTo>
                    <a:cubicBezTo>
                      <a:pt x="4281981" y="272705"/>
                      <a:pt x="4228641" y="265085"/>
                      <a:pt x="4113071" y="249845"/>
                    </a:cubicBezTo>
                    <a:cubicBezTo>
                      <a:pt x="3862881" y="215555"/>
                      <a:pt x="3225341" y="173645"/>
                      <a:pt x="2907841" y="136815"/>
                    </a:cubicBezTo>
                    <a:cubicBezTo>
                      <a:pt x="2700831" y="112685"/>
                      <a:pt x="2543351" y="79665"/>
                      <a:pt x="2396031" y="65695"/>
                    </a:cubicBezTo>
                    <a:cubicBezTo>
                      <a:pt x="2283001" y="54265"/>
                      <a:pt x="2157271" y="40295"/>
                      <a:pt x="2098851" y="47915"/>
                    </a:cubicBezTo>
                    <a:cubicBezTo>
                      <a:pt x="2072181" y="51725"/>
                      <a:pt x="2060751" y="55535"/>
                      <a:pt x="2042971" y="66965"/>
                    </a:cubicBezTo>
                    <a:cubicBezTo>
                      <a:pt x="2022651" y="80935"/>
                      <a:pt x="2008681" y="111415"/>
                      <a:pt x="1985821" y="127925"/>
                    </a:cubicBezTo>
                    <a:cubicBezTo>
                      <a:pt x="1959151" y="146975"/>
                      <a:pt x="1923591" y="162215"/>
                      <a:pt x="1893111" y="172375"/>
                    </a:cubicBezTo>
                    <a:cubicBezTo>
                      <a:pt x="1863901" y="182535"/>
                      <a:pt x="1823261" y="197775"/>
                      <a:pt x="1808021" y="190155"/>
                    </a:cubicBezTo>
                    <a:cubicBezTo>
                      <a:pt x="1797861" y="185075"/>
                      <a:pt x="1794051" y="167295"/>
                      <a:pt x="1795321" y="158405"/>
                    </a:cubicBezTo>
                    <a:cubicBezTo>
                      <a:pt x="1796591" y="150785"/>
                      <a:pt x="1805481" y="141895"/>
                      <a:pt x="1813101" y="139355"/>
                    </a:cubicBezTo>
                    <a:cubicBezTo>
                      <a:pt x="1820721" y="136815"/>
                      <a:pt x="1833421" y="139355"/>
                      <a:pt x="1839771" y="143165"/>
                    </a:cubicBezTo>
                    <a:cubicBezTo>
                      <a:pt x="1844851" y="148245"/>
                      <a:pt x="1851201" y="159675"/>
                      <a:pt x="1849931" y="167295"/>
                    </a:cubicBezTo>
                    <a:cubicBezTo>
                      <a:pt x="1849931" y="174915"/>
                      <a:pt x="1843581" y="186345"/>
                      <a:pt x="1837231" y="190155"/>
                    </a:cubicBezTo>
                    <a:cubicBezTo>
                      <a:pt x="1829611" y="193965"/>
                      <a:pt x="1816911" y="193965"/>
                      <a:pt x="1810561" y="191425"/>
                    </a:cubicBezTo>
                    <a:cubicBezTo>
                      <a:pt x="1802941" y="187615"/>
                      <a:pt x="1795321" y="177455"/>
                      <a:pt x="1794051" y="169835"/>
                    </a:cubicBezTo>
                    <a:cubicBezTo>
                      <a:pt x="1794051" y="160945"/>
                      <a:pt x="1800401" y="149515"/>
                      <a:pt x="1810561" y="140625"/>
                    </a:cubicBezTo>
                    <a:cubicBezTo>
                      <a:pt x="1833421" y="120305"/>
                      <a:pt x="1915971" y="108875"/>
                      <a:pt x="1951531" y="86015"/>
                    </a:cubicBezTo>
                    <a:cubicBezTo>
                      <a:pt x="1978201" y="68235"/>
                      <a:pt x="1988361" y="39025"/>
                      <a:pt x="2012491" y="25055"/>
                    </a:cubicBezTo>
                    <a:cubicBezTo>
                      <a:pt x="2037891" y="9815"/>
                      <a:pt x="2055671" y="3465"/>
                      <a:pt x="2100121" y="925"/>
                    </a:cubicBezTo>
                    <a:cubicBezTo>
                      <a:pt x="2234741" y="-9235"/>
                      <a:pt x="2614471" y="66965"/>
                      <a:pt x="2911651" y="98715"/>
                    </a:cubicBezTo>
                    <a:cubicBezTo>
                      <a:pt x="3274871" y="138085"/>
                      <a:pt x="3866691" y="177455"/>
                      <a:pt x="4119421" y="211745"/>
                    </a:cubicBezTo>
                    <a:cubicBezTo>
                      <a:pt x="4236261" y="228255"/>
                      <a:pt x="4292141" y="235875"/>
                      <a:pt x="4374691" y="258735"/>
                    </a:cubicBezTo>
                    <a:cubicBezTo>
                      <a:pt x="4458511" y="281595"/>
                      <a:pt x="4543601" y="315885"/>
                      <a:pt x="4618531" y="351445"/>
                    </a:cubicBezTo>
                    <a:cubicBezTo>
                      <a:pt x="4687111" y="383195"/>
                      <a:pt x="4753151" y="425105"/>
                      <a:pt x="4807761" y="460665"/>
                    </a:cubicBezTo>
                    <a:cubicBezTo>
                      <a:pt x="4852211" y="489875"/>
                      <a:pt x="4887771" y="512735"/>
                      <a:pt x="4924601" y="547025"/>
                    </a:cubicBezTo>
                    <a:cubicBezTo>
                      <a:pt x="4963971" y="582585"/>
                      <a:pt x="5000801" y="625765"/>
                      <a:pt x="5033821" y="671485"/>
                    </a:cubicBezTo>
                    <a:cubicBezTo>
                      <a:pt x="5069381" y="718475"/>
                      <a:pt x="5106211" y="766735"/>
                      <a:pt x="5129071" y="825155"/>
                    </a:cubicBezTo>
                    <a:cubicBezTo>
                      <a:pt x="5155741" y="891195"/>
                      <a:pt x="5164631" y="969935"/>
                      <a:pt x="5174791" y="1052485"/>
                    </a:cubicBezTo>
                    <a:cubicBezTo>
                      <a:pt x="5186221" y="1146465"/>
                      <a:pt x="5193841" y="1251875"/>
                      <a:pt x="5188761" y="1357285"/>
                    </a:cubicBezTo>
                    <a:cubicBezTo>
                      <a:pt x="5183681" y="1474125"/>
                      <a:pt x="5160821" y="1631605"/>
                      <a:pt x="5139231" y="1724315"/>
                    </a:cubicBezTo>
                    <a:cubicBezTo>
                      <a:pt x="5125261" y="1781465"/>
                      <a:pt x="5113831" y="1817025"/>
                      <a:pt x="5090971" y="1860205"/>
                    </a:cubicBezTo>
                    <a:cubicBezTo>
                      <a:pt x="5064301" y="1909735"/>
                      <a:pt x="5019851" y="1964345"/>
                      <a:pt x="4983021" y="2001175"/>
                    </a:cubicBezTo>
                    <a:cubicBezTo>
                      <a:pt x="4953811" y="2031655"/>
                      <a:pt x="4928411" y="2048165"/>
                      <a:pt x="4891581" y="2074835"/>
                    </a:cubicBezTo>
                    <a:cubicBezTo>
                      <a:pt x="4836971" y="2111665"/>
                      <a:pt x="4765851" y="2153575"/>
                      <a:pt x="4683301" y="2198025"/>
                    </a:cubicBezTo>
                    <a:cubicBezTo>
                      <a:pt x="4572811" y="2257715"/>
                      <a:pt x="4435651" y="2313595"/>
                      <a:pt x="4279441" y="2392335"/>
                    </a:cubicBezTo>
                    <a:cubicBezTo>
                      <a:pt x="4062271" y="2504095"/>
                      <a:pt x="3667301" y="2698405"/>
                      <a:pt x="3503471" y="2813975"/>
                    </a:cubicBezTo>
                    <a:cubicBezTo>
                      <a:pt x="3417111" y="2873665"/>
                      <a:pt x="3392981" y="2918115"/>
                      <a:pt x="3324401" y="2972725"/>
                    </a:cubicBezTo>
                    <a:cubicBezTo>
                      <a:pt x="3238041" y="3041305"/>
                      <a:pt x="3112311" y="3109885"/>
                      <a:pt x="3022141" y="3188625"/>
                    </a:cubicBezTo>
                    <a:cubicBezTo>
                      <a:pt x="2938321" y="3261015"/>
                      <a:pt x="2855771" y="3374045"/>
                      <a:pt x="2801161" y="3426115"/>
                    </a:cubicBezTo>
                    <a:cubicBezTo>
                      <a:pt x="2770681" y="3454055"/>
                      <a:pt x="2757981" y="3466755"/>
                      <a:pt x="2726231" y="3487075"/>
                    </a:cubicBezTo>
                    <a:cubicBezTo>
                      <a:pt x="2684321" y="3515015"/>
                      <a:pt x="2628441" y="3545495"/>
                      <a:pt x="2563671" y="3569625"/>
                    </a:cubicBezTo>
                    <a:cubicBezTo>
                      <a:pt x="2479851" y="3600105"/>
                      <a:pt x="2383331" y="3619155"/>
                      <a:pt x="2261411" y="3639475"/>
                    </a:cubicBezTo>
                    <a:cubicBezTo>
                      <a:pt x="2078531" y="3669955"/>
                      <a:pt x="1790241" y="3697895"/>
                      <a:pt x="1574341" y="3709325"/>
                    </a:cubicBezTo>
                    <a:cubicBezTo>
                      <a:pt x="1383841" y="3719485"/>
                      <a:pt x="1178101" y="3725835"/>
                      <a:pt x="1032051" y="3713135"/>
                    </a:cubicBezTo>
                    <a:cubicBezTo>
                      <a:pt x="929181" y="3704245"/>
                      <a:pt x="861871" y="3689005"/>
                      <a:pt x="772971" y="3666145"/>
                    </a:cubicBezTo>
                    <a:cubicBezTo>
                      <a:pt x="675181" y="3640745"/>
                      <a:pt x="550721" y="3598835"/>
                      <a:pt x="469441" y="3565815"/>
                    </a:cubicBezTo>
                    <a:cubicBezTo>
                      <a:pt x="412291" y="3541685"/>
                      <a:pt x="370381" y="3518825"/>
                      <a:pt x="329741" y="3493425"/>
                    </a:cubicBezTo>
                    <a:cubicBezTo>
                      <a:pt x="296721" y="3473105"/>
                      <a:pt x="270051" y="3452785"/>
                      <a:pt x="244651" y="3428655"/>
                    </a:cubicBezTo>
                    <a:cubicBezTo>
                      <a:pt x="219251" y="3404525"/>
                      <a:pt x="200201" y="3384205"/>
                      <a:pt x="177341" y="3347375"/>
                    </a:cubicBezTo>
                    <a:cubicBezTo>
                      <a:pt x="137971" y="3283875"/>
                      <a:pt x="82091" y="3163225"/>
                      <a:pt x="54151" y="3069245"/>
                    </a:cubicBezTo>
                    <a:cubicBezTo>
                      <a:pt x="26211" y="2977805"/>
                      <a:pt x="12241" y="2876205"/>
                      <a:pt x="3351" y="2792385"/>
                    </a:cubicBezTo>
                    <a:cubicBezTo>
                      <a:pt x="-1729" y="2723805"/>
                      <a:pt x="-459" y="2664115"/>
                      <a:pt x="3351" y="2605695"/>
                    </a:cubicBezTo>
                    <a:cubicBezTo>
                      <a:pt x="5891" y="2553625"/>
                      <a:pt x="7161" y="2515525"/>
                      <a:pt x="21131" y="2460915"/>
                    </a:cubicBezTo>
                    <a:cubicBezTo>
                      <a:pt x="41451" y="2384715"/>
                      <a:pt x="92251" y="2265335"/>
                      <a:pt x="125271" y="2196755"/>
                    </a:cubicBezTo>
                    <a:cubicBezTo>
                      <a:pt x="148131" y="2151035"/>
                      <a:pt x="162101" y="2125635"/>
                      <a:pt x="191311" y="2084995"/>
                    </a:cubicBezTo>
                    <a:cubicBezTo>
                      <a:pt x="233221" y="2026575"/>
                      <a:pt x="313231" y="1950375"/>
                      <a:pt x="361491" y="1886875"/>
                    </a:cubicBezTo>
                    <a:cubicBezTo>
                      <a:pt x="402131" y="1834805"/>
                      <a:pt x="432611" y="1794165"/>
                      <a:pt x="464361" y="1737015"/>
                    </a:cubicBezTo>
                    <a:cubicBezTo>
                      <a:pt x="503731" y="1669705"/>
                      <a:pt x="541831" y="1597315"/>
                      <a:pt x="576121" y="1503335"/>
                    </a:cubicBezTo>
                    <a:cubicBezTo>
                      <a:pt x="625651" y="1372525"/>
                      <a:pt x="671371" y="1113445"/>
                      <a:pt x="709471" y="1016925"/>
                    </a:cubicBezTo>
                    <a:cubicBezTo>
                      <a:pt x="725981" y="973745"/>
                      <a:pt x="733601" y="964855"/>
                      <a:pt x="756461" y="926755"/>
                    </a:cubicBezTo>
                    <a:cubicBezTo>
                      <a:pt x="802181" y="853095"/>
                      <a:pt x="902511" y="696885"/>
                      <a:pt x="977441" y="613065"/>
                    </a:cubicBezTo>
                    <a:cubicBezTo>
                      <a:pt x="1035861" y="547025"/>
                      <a:pt x="1084121" y="506385"/>
                      <a:pt x="1155241" y="454315"/>
                    </a:cubicBezTo>
                    <a:cubicBezTo>
                      <a:pt x="1242871" y="390815"/>
                      <a:pt x="1385111" y="305725"/>
                      <a:pt x="1471471" y="267625"/>
                    </a:cubicBezTo>
                    <a:cubicBezTo>
                      <a:pt x="1524811" y="243495"/>
                      <a:pt x="1554021" y="235875"/>
                      <a:pt x="1608631" y="223175"/>
                    </a:cubicBezTo>
                    <a:cubicBezTo>
                      <a:pt x="1689911" y="204125"/>
                      <a:pt x="1866441" y="166025"/>
                      <a:pt x="1910891" y="177455"/>
                    </a:cubicBezTo>
                    <a:cubicBezTo>
                      <a:pt x="1926131" y="179995"/>
                      <a:pt x="1936291" y="187615"/>
                      <a:pt x="1937561" y="195235"/>
                    </a:cubicBezTo>
                    <a:cubicBezTo>
                      <a:pt x="1938831" y="202855"/>
                      <a:pt x="1917241" y="224445"/>
                      <a:pt x="1917241" y="224445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978931" y="479570"/>
              <a:ext cx="195580" cy="410210"/>
              <a:chOff x="0" y="0"/>
              <a:chExt cx="195580" cy="4102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47710" y="50800"/>
                <a:ext cx="96611" cy="308750"/>
              </a:xfrm>
              <a:custGeom>
                <a:avLst/>
                <a:gdLst/>
                <a:ahLst/>
                <a:cxnLst/>
                <a:rect r="r" b="b" t="t" l="l"/>
                <a:pathLst>
                  <a:path h="308750" w="96611">
                    <a:moveTo>
                      <a:pt x="52620" y="16510"/>
                    </a:moveTo>
                    <a:cubicBezTo>
                      <a:pt x="94530" y="293370"/>
                      <a:pt x="91990" y="299720"/>
                      <a:pt x="85640" y="303530"/>
                    </a:cubicBezTo>
                    <a:cubicBezTo>
                      <a:pt x="79290" y="308610"/>
                      <a:pt x="60240" y="308610"/>
                      <a:pt x="53890" y="303530"/>
                    </a:cubicBezTo>
                    <a:cubicBezTo>
                      <a:pt x="46270" y="298450"/>
                      <a:pt x="42460" y="280670"/>
                      <a:pt x="45000" y="271780"/>
                    </a:cubicBezTo>
                    <a:cubicBezTo>
                      <a:pt x="47540" y="265430"/>
                      <a:pt x="56430" y="256540"/>
                      <a:pt x="64050" y="255270"/>
                    </a:cubicBezTo>
                    <a:cubicBezTo>
                      <a:pt x="72940" y="255270"/>
                      <a:pt x="89450" y="262890"/>
                      <a:pt x="93260" y="269240"/>
                    </a:cubicBezTo>
                    <a:cubicBezTo>
                      <a:pt x="98340" y="275590"/>
                      <a:pt x="97070" y="288290"/>
                      <a:pt x="93260" y="294640"/>
                    </a:cubicBezTo>
                    <a:cubicBezTo>
                      <a:pt x="89450" y="302260"/>
                      <a:pt x="71670" y="309880"/>
                      <a:pt x="64050" y="308610"/>
                    </a:cubicBezTo>
                    <a:cubicBezTo>
                      <a:pt x="56430" y="307340"/>
                      <a:pt x="50080" y="302260"/>
                      <a:pt x="45000" y="292100"/>
                    </a:cubicBezTo>
                    <a:cubicBezTo>
                      <a:pt x="25950" y="256540"/>
                      <a:pt x="-10880" y="60960"/>
                      <a:pt x="3090" y="22860"/>
                    </a:cubicBezTo>
                    <a:cubicBezTo>
                      <a:pt x="8170" y="8890"/>
                      <a:pt x="20870" y="0"/>
                      <a:pt x="28490" y="0"/>
                    </a:cubicBezTo>
                    <a:cubicBezTo>
                      <a:pt x="37380" y="0"/>
                      <a:pt x="52620" y="16510"/>
                      <a:pt x="52620" y="165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973851" y="498620"/>
              <a:ext cx="411480" cy="388620"/>
              <a:chOff x="0" y="0"/>
              <a:chExt cx="411480" cy="3886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46990" y="50696"/>
                <a:ext cx="315210" cy="289088"/>
              </a:xfrm>
              <a:custGeom>
                <a:avLst/>
                <a:gdLst/>
                <a:ahLst/>
                <a:cxnLst/>
                <a:rect r="r" b="b" t="t" l="l"/>
                <a:pathLst>
                  <a:path h="289088" w="315210">
                    <a:moveTo>
                      <a:pt x="35560" y="104"/>
                    </a:moveTo>
                    <a:cubicBezTo>
                      <a:pt x="186690" y="123294"/>
                      <a:pt x="288290" y="212194"/>
                      <a:pt x="307340" y="247754"/>
                    </a:cubicBezTo>
                    <a:cubicBezTo>
                      <a:pt x="313690" y="259184"/>
                      <a:pt x="317500" y="269344"/>
                      <a:pt x="313690" y="275694"/>
                    </a:cubicBezTo>
                    <a:cubicBezTo>
                      <a:pt x="308610" y="283314"/>
                      <a:pt x="287020" y="289664"/>
                      <a:pt x="279400" y="287124"/>
                    </a:cubicBezTo>
                    <a:cubicBezTo>
                      <a:pt x="273050" y="284584"/>
                      <a:pt x="266700" y="274424"/>
                      <a:pt x="266700" y="268074"/>
                    </a:cubicBezTo>
                    <a:cubicBezTo>
                      <a:pt x="265430" y="261724"/>
                      <a:pt x="269240" y="250294"/>
                      <a:pt x="275590" y="246484"/>
                    </a:cubicBezTo>
                    <a:cubicBezTo>
                      <a:pt x="281940" y="242674"/>
                      <a:pt x="306070" y="243944"/>
                      <a:pt x="311150" y="251564"/>
                    </a:cubicBezTo>
                    <a:cubicBezTo>
                      <a:pt x="314960" y="257914"/>
                      <a:pt x="311150" y="280774"/>
                      <a:pt x="304800" y="285854"/>
                    </a:cubicBezTo>
                    <a:cubicBezTo>
                      <a:pt x="298450" y="290934"/>
                      <a:pt x="287020" y="289664"/>
                      <a:pt x="275590" y="284584"/>
                    </a:cubicBezTo>
                    <a:cubicBezTo>
                      <a:pt x="246380" y="270614"/>
                      <a:pt x="198120" y="194414"/>
                      <a:pt x="153670" y="152504"/>
                    </a:cubicBezTo>
                    <a:cubicBezTo>
                      <a:pt x="107950" y="110594"/>
                      <a:pt x="19050" y="66144"/>
                      <a:pt x="3810" y="36934"/>
                    </a:cubicBezTo>
                    <a:cubicBezTo>
                      <a:pt x="-1270" y="24234"/>
                      <a:pt x="-1270" y="11534"/>
                      <a:pt x="3810" y="5184"/>
                    </a:cubicBezTo>
                    <a:cubicBezTo>
                      <a:pt x="8890" y="-1166"/>
                      <a:pt x="35560" y="104"/>
                      <a:pt x="35560" y="104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966231" y="587520"/>
              <a:ext cx="336550" cy="204470"/>
              <a:chOff x="0" y="0"/>
              <a:chExt cx="336550" cy="20447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50749" y="50231"/>
                <a:ext cx="235244" cy="103371"/>
              </a:xfrm>
              <a:custGeom>
                <a:avLst/>
                <a:gdLst/>
                <a:ahLst/>
                <a:cxnLst/>
                <a:rect r="r" b="b" t="t" l="l"/>
                <a:pathLst>
                  <a:path h="103371" w="235244">
                    <a:moveTo>
                      <a:pt x="21641" y="51369"/>
                    </a:moveTo>
                    <a:cubicBezTo>
                      <a:pt x="218491" y="3109"/>
                      <a:pt x="232461" y="14539"/>
                      <a:pt x="235001" y="23429"/>
                    </a:cubicBezTo>
                    <a:cubicBezTo>
                      <a:pt x="236271" y="29779"/>
                      <a:pt x="232461" y="42479"/>
                      <a:pt x="226111" y="47559"/>
                    </a:cubicBezTo>
                    <a:cubicBezTo>
                      <a:pt x="218491" y="52639"/>
                      <a:pt x="200711" y="53909"/>
                      <a:pt x="193091" y="50099"/>
                    </a:cubicBezTo>
                    <a:cubicBezTo>
                      <a:pt x="186741" y="46289"/>
                      <a:pt x="180391" y="34859"/>
                      <a:pt x="180391" y="27239"/>
                    </a:cubicBezTo>
                    <a:cubicBezTo>
                      <a:pt x="180391" y="18349"/>
                      <a:pt x="191821" y="3109"/>
                      <a:pt x="199441" y="569"/>
                    </a:cubicBezTo>
                    <a:cubicBezTo>
                      <a:pt x="208331" y="-1971"/>
                      <a:pt x="226111" y="4379"/>
                      <a:pt x="231191" y="11999"/>
                    </a:cubicBezTo>
                    <a:cubicBezTo>
                      <a:pt x="235001" y="19619"/>
                      <a:pt x="235001" y="36129"/>
                      <a:pt x="227381" y="45019"/>
                    </a:cubicBezTo>
                    <a:cubicBezTo>
                      <a:pt x="217221" y="58989"/>
                      <a:pt x="184201" y="67879"/>
                      <a:pt x="156261" y="76769"/>
                    </a:cubicBezTo>
                    <a:cubicBezTo>
                      <a:pt x="120701" y="88199"/>
                      <a:pt x="57201" y="108519"/>
                      <a:pt x="30531" y="102169"/>
                    </a:cubicBezTo>
                    <a:cubicBezTo>
                      <a:pt x="15291" y="98359"/>
                      <a:pt x="1321" y="86929"/>
                      <a:pt x="51" y="78039"/>
                    </a:cubicBezTo>
                    <a:cubicBezTo>
                      <a:pt x="-1219" y="69149"/>
                      <a:pt x="21641" y="51369"/>
                      <a:pt x="21641" y="51369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778521" y="2065800"/>
              <a:ext cx="5342890" cy="4913630"/>
              <a:chOff x="0" y="0"/>
              <a:chExt cx="5342890" cy="491363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46369" y="49327"/>
                <a:ext cx="5251787" cy="4812572"/>
              </a:xfrm>
              <a:custGeom>
                <a:avLst/>
                <a:gdLst/>
                <a:ahLst/>
                <a:cxnLst/>
                <a:rect r="r" b="b" t="t" l="l"/>
                <a:pathLst>
                  <a:path h="4812572" w="5251787">
                    <a:moveTo>
                      <a:pt x="4359261" y="150063"/>
                    </a:moveTo>
                    <a:cubicBezTo>
                      <a:pt x="3813161" y="48463"/>
                      <a:pt x="3636631" y="34493"/>
                      <a:pt x="3517251" y="40843"/>
                    </a:cubicBezTo>
                    <a:cubicBezTo>
                      <a:pt x="3434701" y="44653"/>
                      <a:pt x="3382631" y="58623"/>
                      <a:pt x="3310241" y="76403"/>
                    </a:cubicBezTo>
                    <a:cubicBezTo>
                      <a:pt x="3226421" y="95453"/>
                      <a:pt x="3121011" y="123393"/>
                      <a:pt x="3044811" y="153873"/>
                    </a:cubicBezTo>
                    <a:cubicBezTo>
                      <a:pt x="2982581" y="178003"/>
                      <a:pt x="2929241" y="199593"/>
                      <a:pt x="2883521" y="235153"/>
                    </a:cubicBezTo>
                    <a:cubicBezTo>
                      <a:pt x="2839071" y="269443"/>
                      <a:pt x="2808591" y="312623"/>
                      <a:pt x="2770491" y="360883"/>
                    </a:cubicBezTo>
                    <a:cubicBezTo>
                      <a:pt x="2724771" y="419303"/>
                      <a:pt x="2670161" y="494233"/>
                      <a:pt x="2630791" y="562813"/>
                    </a:cubicBezTo>
                    <a:cubicBezTo>
                      <a:pt x="2593961" y="627583"/>
                      <a:pt x="2571101" y="678383"/>
                      <a:pt x="2539351" y="758393"/>
                    </a:cubicBezTo>
                    <a:cubicBezTo>
                      <a:pt x="2488551" y="885393"/>
                      <a:pt x="2426321" y="1131773"/>
                      <a:pt x="2372981" y="1253693"/>
                    </a:cubicBezTo>
                    <a:cubicBezTo>
                      <a:pt x="2341231" y="1328623"/>
                      <a:pt x="2319641" y="1365453"/>
                      <a:pt x="2279001" y="1428953"/>
                    </a:cubicBezTo>
                    <a:cubicBezTo>
                      <a:pt x="2223121" y="1515313"/>
                      <a:pt x="2150731" y="1615643"/>
                      <a:pt x="2061831" y="1717243"/>
                    </a:cubicBezTo>
                    <a:cubicBezTo>
                      <a:pt x="1950071" y="1846783"/>
                      <a:pt x="1774811" y="2009343"/>
                      <a:pt x="1646541" y="2132533"/>
                    </a:cubicBezTo>
                    <a:cubicBezTo>
                      <a:pt x="1539861" y="2235403"/>
                      <a:pt x="1425561" y="2347163"/>
                      <a:pt x="1345551" y="2411933"/>
                    </a:cubicBezTo>
                    <a:cubicBezTo>
                      <a:pt x="1298561" y="2450033"/>
                      <a:pt x="1273161" y="2469083"/>
                      <a:pt x="1226171" y="2497023"/>
                    </a:cubicBezTo>
                    <a:cubicBezTo>
                      <a:pt x="1165211" y="2532583"/>
                      <a:pt x="1100441" y="2565603"/>
                      <a:pt x="1009001" y="2601163"/>
                    </a:cubicBezTo>
                    <a:cubicBezTo>
                      <a:pt x="860411" y="2659583"/>
                      <a:pt x="563231" y="2721813"/>
                      <a:pt x="407021" y="2785313"/>
                    </a:cubicBezTo>
                    <a:cubicBezTo>
                      <a:pt x="304151" y="2827223"/>
                      <a:pt x="208901" y="2878023"/>
                      <a:pt x="156831" y="2914853"/>
                    </a:cubicBezTo>
                    <a:cubicBezTo>
                      <a:pt x="130161" y="2933903"/>
                      <a:pt x="117461" y="2946603"/>
                      <a:pt x="102221" y="2965653"/>
                    </a:cubicBezTo>
                    <a:cubicBezTo>
                      <a:pt x="89521" y="2983433"/>
                      <a:pt x="81901" y="3002483"/>
                      <a:pt x="73011" y="3024073"/>
                    </a:cubicBezTo>
                    <a:cubicBezTo>
                      <a:pt x="62851" y="3049473"/>
                      <a:pt x="53961" y="3078683"/>
                      <a:pt x="48881" y="3107893"/>
                    </a:cubicBezTo>
                    <a:cubicBezTo>
                      <a:pt x="45071" y="3135833"/>
                      <a:pt x="43801" y="3162503"/>
                      <a:pt x="43801" y="3196793"/>
                    </a:cubicBezTo>
                    <a:cubicBezTo>
                      <a:pt x="45071" y="3241243"/>
                      <a:pt x="48881" y="3298393"/>
                      <a:pt x="59041" y="3349193"/>
                    </a:cubicBezTo>
                    <a:cubicBezTo>
                      <a:pt x="70471" y="3403803"/>
                      <a:pt x="85711" y="3454603"/>
                      <a:pt x="108571" y="3513023"/>
                    </a:cubicBezTo>
                    <a:cubicBezTo>
                      <a:pt x="137781" y="3585413"/>
                      <a:pt x="179691" y="3670503"/>
                      <a:pt x="225411" y="3745433"/>
                    </a:cubicBezTo>
                    <a:cubicBezTo>
                      <a:pt x="273671" y="3824173"/>
                      <a:pt x="346061" y="3919423"/>
                      <a:pt x="394321" y="3976573"/>
                    </a:cubicBezTo>
                    <a:cubicBezTo>
                      <a:pt x="427341" y="4013403"/>
                      <a:pt x="448931" y="4033723"/>
                      <a:pt x="481951" y="4061663"/>
                    </a:cubicBezTo>
                    <a:cubicBezTo>
                      <a:pt x="517511" y="4090873"/>
                      <a:pt x="547991" y="4117543"/>
                      <a:pt x="603871" y="4146753"/>
                    </a:cubicBezTo>
                    <a:cubicBezTo>
                      <a:pt x="700391" y="4198823"/>
                      <a:pt x="868031" y="4269943"/>
                      <a:pt x="1028051" y="4309313"/>
                    </a:cubicBezTo>
                    <a:cubicBezTo>
                      <a:pt x="1224901" y="4357573"/>
                      <a:pt x="1547481" y="4352493"/>
                      <a:pt x="1704961" y="4386783"/>
                    </a:cubicBezTo>
                    <a:cubicBezTo>
                      <a:pt x="1792591" y="4405833"/>
                      <a:pt x="1825611" y="4421073"/>
                      <a:pt x="1904351" y="4451553"/>
                    </a:cubicBezTo>
                    <a:cubicBezTo>
                      <a:pt x="2023731" y="4498543"/>
                      <a:pt x="2197721" y="4606493"/>
                      <a:pt x="2346311" y="4658563"/>
                    </a:cubicBezTo>
                    <a:cubicBezTo>
                      <a:pt x="2487281" y="4708093"/>
                      <a:pt x="2635871" y="4755083"/>
                      <a:pt x="2771761" y="4762703"/>
                    </a:cubicBezTo>
                    <a:cubicBezTo>
                      <a:pt x="2891141" y="4770323"/>
                      <a:pt x="2982581" y="4742383"/>
                      <a:pt x="3115931" y="4722063"/>
                    </a:cubicBezTo>
                    <a:cubicBezTo>
                      <a:pt x="3305161" y="4692853"/>
                      <a:pt x="3646791" y="4610303"/>
                      <a:pt x="3796651" y="4593793"/>
                    </a:cubicBezTo>
                    <a:cubicBezTo>
                      <a:pt x="3869041" y="4586173"/>
                      <a:pt x="3898251" y="4587443"/>
                      <a:pt x="3960481" y="4589983"/>
                    </a:cubicBezTo>
                    <a:cubicBezTo>
                      <a:pt x="4037951" y="4591253"/>
                      <a:pt x="4178921" y="4619193"/>
                      <a:pt x="4227181" y="4614113"/>
                    </a:cubicBezTo>
                    <a:cubicBezTo>
                      <a:pt x="4244961" y="4612843"/>
                      <a:pt x="4248771" y="4612843"/>
                      <a:pt x="4264011" y="4602683"/>
                    </a:cubicBezTo>
                    <a:cubicBezTo>
                      <a:pt x="4304651" y="4574743"/>
                      <a:pt x="4407521" y="4431233"/>
                      <a:pt x="4446891" y="4372813"/>
                    </a:cubicBezTo>
                    <a:cubicBezTo>
                      <a:pt x="4468481" y="4339793"/>
                      <a:pt x="4479911" y="4318203"/>
                      <a:pt x="4491341" y="4291533"/>
                    </a:cubicBezTo>
                    <a:cubicBezTo>
                      <a:pt x="4501501" y="4266133"/>
                      <a:pt x="4504041" y="4244543"/>
                      <a:pt x="4511661" y="4214063"/>
                    </a:cubicBezTo>
                    <a:cubicBezTo>
                      <a:pt x="4521821" y="4172153"/>
                      <a:pt x="4534521" y="4117543"/>
                      <a:pt x="4542141" y="4061663"/>
                    </a:cubicBezTo>
                    <a:cubicBezTo>
                      <a:pt x="4551031" y="3995623"/>
                      <a:pt x="4554841" y="3910533"/>
                      <a:pt x="4557381" y="3840683"/>
                    </a:cubicBezTo>
                    <a:cubicBezTo>
                      <a:pt x="4558651" y="3778453"/>
                      <a:pt x="4561191" y="3727653"/>
                      <a:pt x="4556111" y="3661613"/>
                    </a:cubicBezTo>
                    <a:cubicBezTo>
                      <a:pt x="4549761" y="3581603"/>
                      <a:pt x="4514201" y="3443173"/>
                      <a:pt x="4519281" y="3393643"/>
                    </a:cubicBezTo>
                    <a:cubicBezTo>
                      <a:pt x="4520551" y="3373323"/>
                      <a:pt x="4525631" y="3365703"/>
                      <a:pt x="4531981" y="3353003"/>
                    </a:cubicBezTo>
                    <a:cubicBezTo>
                      <a:pt x="4539601" y="3339033"/>
                      <a:pt x="4544681" y="3330143"/>
                      <a:pt x="4562461" y="3311093"/>
                    </a:cubicBezTo>
                    <a:cubicBezTo>
                      <a:pt x="4618341" y="3253943"/>
                      <a:pt x="4885041" y="3083763"/>
                      <a:pt x="4966321" y="3002483"/>
                    </a:cubicBezTo>
                    <a:cubicBezTo>
                      <a:pt x="5006961" y="2960573"/>
                      <a:pt x="5031091" y="2927553"/>
                      <a:pt x="5047601" y="2894533"/>
                    </a:cubicBezTo>
                    <a:cubicBezTo>
                      <a:pt x="5060301" y="2869133"/>
                      <a:pt x="5061571" y="2855163"/>
                      <a:pt x="5067921" y="2824683"/>
                    </a:cubicBezTo>
                    <a:cubicBezTo>
                      <a:pt x="5080621" y="2766263"/>
                      <a:pt x="5097131" y="2676093"/>
                      <a:pt x="5107291" y="2570683"/>
                    </a:cubicBezTo>
                    <a:cubicBezTo>
                      <a:pt x="5122531" y="2400503"/>
                      <a:pt x="5109831" y="2136343"/>
                      <a:pt x="5123801" y="1900123"/>
                    </a:cubicBezTo>
                    <a:cubicBezTo>
                      <a:pt x="5140311" y="1634693"/>
                      <a:pt x="5192381" y="1285443"/>
                      <a:pt x="5203811" y="1053033"/>
                    </a:cubicBezTo>
                    <a:cubicBezTo>
                      <a:pt x="5212701" y="893013"/>
                      <a:pt x="5217781" y="746963"/>
                      <a:pt x="5206351" y="645363"/>
                    </a:cubicBezTo>
                    <a:cubicBezTo>
                      <a:pt x="5198731" y="581863"/>
                      <a:pt x="5184761" y="536143"/>
                      <a:pt x="5170791" y="495503"/>
                    </a:cubicBezTo>
                    <a:cubicBezTo>
                      <a:pt x="5159361" y="465023"/>
                      <a:pt x="5154281" y="442163"/>
                      <a:pt x="5135231" y="419303"/>
                    </a:cubicBezTo>
                    <a:cubicBezTo>
                      <a:pt x="5112371" y="390093"/>
                      <a:pt x="5074271" y="359613"/>
                      <a:pt x="5032361" y="338023"/>
                    </a:cubicBezTo>
                    <a:cubicBezTo>
                      <a:pt x="4980291" y="311353"/>
                      <a:pt x="4910441" y="306273"/>
                      <a:pt x="4838051" y="282143"/>
                    </a:cubicBezTo>
                    <a:cubicBezTo>
                      <a:pt x="4744071" y="251663"/>
                      <a:pt x="4606911" y="188163"/>
                      <a:pt x="4519281" y="161493"/>
                    </a:cubicBezTo>
                    <a:cubicBezTo>
                      <a:pt x="4460861" y="143713"/>
                      <a:pt x="4392281" y="146253"/>
                      <a:pt x="4368151" y="127203"/>
                    </a:cubicBezTo>
                    <a:cubicBezTo>
                      <a:pt x="4356721" y="118313"/>
                      <a:pt x="4349101" y="101803"/>
                      <a:pt x="4352911" y="92913"/>
                    </a:cubicBezTo>
                    <a:cubicBezTo>
                      <a:pt x="4355451" y="85293"/>
                      <a:pt x="4379581" y="76403"/>
                      <a:pt x="4387201" y="80213"/>
                    </a:cubicBezTo>
                    <a:cubicBezTo>
                      <a:pt x="4394821" y="82753"/>
                      <a:pt x="4402441" y="106883"/>
                      <a:pt x="4398631" y="114503"/>
                    </a:cubicBezTo>
                    <a:cubicBezTo>
                      <a:pt x="4394821" y="122123"/>
                      <a:pt x="4370691" y="128473"/>
                      <a:pt x="4363071" y="124663"/>
                    </a:cubicBezTo>
                    <a:cubicBezTo>
                      <a:pt x="4355451" y="120853"/>
                      <a:pt x="4349101" y="104343"/>
                      <a:pt x="4351641" y="95453"/>
                    </a:cubicBezTo>
                    <a:cubicBezTo>
                      <a:pt x="4354181" y="87833"/>
                      <a:pt x="4364341" y="80213"/>
                      <a:pt x="4375771" y="77673"/>
                    </a:cubicBezTo>
                    <a:cubicBezTo>
                      <a:pt x="4404981" y="71323"/>
                      <a:pt x="4469751" y="96723"/>
                      <a:pt x="4528171" y="115773"/>
                    </a:cubicBezTo>
                    <a:cubicBezTo>
                      <a:pt x="4615801" y="143713"/>
                      <a:pt x="4752961" y="207213"/>
                      <a:pt x="4848211" y="238963"/>
                    </a:cubicBezTo>
                    <a:cubicBezTo>
                      <a:pt x="4923141" y="264363"/>
                      <a:pt x="5001881" y="274523"/>
                      <a:pt x="5052681" y="297383"/>
                    </a:cubicBezTo>
                    <a:cubicBezTo>
                      <a:pt x="5086971" y="311353"/>
                      <a:pt x="5108561" y="322783"/>
                      <a:pt x="5131421" y="345643"/>
                    </a:cubicBezTo>
                    <a:cubicBezTo>
                      <a:pt x="5158091" y="372313"/>
                      <a:pt x="5179681" y="407873"/>
                      <a:pt x="5197461" y="449783"/>
                    </a:cubicBezTo>
                    <a:cubicBezTo>
                      <a:pt x="5219051" y="503123"/>
                      <a:pt x="5235561" y="569163"/>
                      <a:pt x="5244451" y="642823"/>
                    </a:cubicBezTo>
                    <a:cubicBezTo>
                      <a:pt x="5255881" y="738073"/>
                      <a:pt x="5252071" y="837133"/>
                      <a:pt x="5245721" y="976833"/>
                    </a:cubicBezTo>
                    <a:cubicBezTo>
                      <a:pt x="5235561" y="1207973"/>
                      <a:pt x="5178411" y="1616913"/>
                      <a:pt x="5161901" y="1900123"/>
                    </a:cubicBezTo>
                    <a:cubicBezTo>
                      <a:pt x="5147931" y="2142693"/>
                      <a:pt x="5160631" y="2403043"/>
                      <a:pt x="5144121" y="2575763"/>
                    </a:cubicBezTo>
                    <a:cubicBezTo>
                      <a:pt x="5135231" y="2682443"/>
                      <a:pt x="5118721" y="2773883"/>
                      <a:pt x="5104751" y="2836113"/>
                    </a:cubicBezTo>
                    <a:cubicBezTo>
                      <a:pt x="5097131" y="2869133"/>
                      <a:pt x="5094591" y="2885643"/>
                      <a:pt x="5080621" y="2913583"/>
                    </a:cubicBezTo>
                    <a:cubicBezTo>
                      <a:pt x="5061571" y="2950413"/>
                      <a:pt x="5034901" y="2988513"/>
                      <a:pt x="4989181" y="3032963"/>
                    </a:cubicBezTo>
                    <a:cubicBezTo>
                      <a:pt x="4906631" y="3115513"/>
                      <a:pt x="4653901" y="3271723"/>
                      <a:pt x="4595481" y="3336493"/>
                    </a:cubicBezTo>
                    <a:cubicBezTo>
                      <a:pt x="4573891" y="3360623"/>
                      <a:pt x="4566271" y="3364433"/>
                      <a:pt x="4559921" y="3393643"/>
                    </a:cubicBezTo>
                    <a:cubicBezTo>
                      <a:pt x="4543411" y="3459683"/>
                      <a:pt x="4594211" y="3634943"/>
                      <a:pt x="4596751" y="3750513"/>
                    </a:cubicBezTo>
                    <a:cubicBezTo>
                      <a:pt x="4600561" y="3859733"/>
                      <a:pt x="4596751" y="3967683"/>
                      <a:pt x="4580241" y="4069283"/>
                    </a:cubicBezTo>
                    <a:cubicBezTo>
                      <a:pt x="4566271" y="4167073"/>
                      <a:pt x="4547221" y="4267403"/>
                      <a:pt x="4507851" y="4352493"/>
                    </a:cubicBezTo>
                    <a:cubicBezTo>
                      <a:pt x="4469751" y="4432503"/>
                      <a:pt x="4393551" y="4517593"/>
                      <a:pt x="4354181" y="4567123"/>
                    </a:cubicBezTo>
                    <a:cubicBezTo>
                      <a:pt x="4332591" y="4593793"/>
                      <a:pt x="4322431" y="4611573"/>
                      <a:pt x="4300841" y="4626813"/>
                    </a:cubicBezTo>
                    <a:cubicBezTo>
                      <a:pt x="4279251" y="4642053"/>
                      <a:pt x="4260201" y="4653483"/>
                      <a:pt x="4227181" y="4657293"/>
                    </a:cubicBezTo>
                    <a:cubicBezTo>
                      <a:pt x="4166221" y="4666183"/>
                      <a:pt x="4036681" y="4630623"/>
                      <a:pt x="3959211" y="4628083"/>
                    </a:cubicBezTo>
                    <a:cubicBezTo>
                      <a:pt x="3899521" y="4625543"/>
                      <a:pt x="3876661" y="4624273"/>
                      <a:pt x="3800461" y="4631893"/>
                    </a:cubicBezTo>
                    <a:cubicBezTo>
                      <a:pt x="3608691" y="4652213"/>
                      <a:pt x="3057511" y="4821123"/>
                      <a:pt x="2787001" y="4812233"/>
                    </a:cubicBezTo>
                    <a:cubicBezTo>
                      <a:pt x="2602851" y="4807153"/>
                      <a:pt x="2478391" y="4753813"/>
                      <a:pt x="2328531" y="4700473"/>
                    </a:cubicBezTo>
                    <a:cubicBezTo>
                      <a:pt x="2171051" y="4644593"/>
                      <a:pt x="1979281" y="4525213"/>
                      <a:pt x="1861171" y="4478223"/>
                    </a:cubicBezTo>
                    <a:cubicBezTo>
                      <a:pt x="1793861" y="4451553"/>
                      <a:pt x="1772271" y="4441393"/>
                      <a:pt x="1697341" y="4424883"/>
                    </a:cubicBezTo>
                    <a:cubicBezTo>
                      <a:pt x="1548751" y="4391863"/>
                      <a:pt x="1214741" y="4394403"/>
                      <a:pt x="1016621" y="4344873"/>
                    </a:cubicBezTo>
                    <a:cubicBezTo>
                      <a:pt x="852791" y="4305503"/>
                      <a:pt x="659751" y="4217873"/>
                      <a:pt x="582281" y="4179773"/>
                    </a:cubicBezTo>
                    <a:cubicBezTo>
                      <a:pt x="553071" y="4164533"/>
                      <a:pt x="547991" y="4159453"/>
                      <a:pt x="523861" y="4141673"/>
                    </a:cubicBezTo>
                    <a:cubicBezTo>
                      <a:pt x="483221" y="4109923"/>
                      <a:pt x="414641" y="4054043"/>
                      <a:pt x="366381" y="4001973"/>
                    </a:cubicBezTo>
                    <a:cubicBezTo>
                      <a:pt x="316851" y="3948633"/>
                      <a:pt x="276211" y="3894023"/>
                      <a:pt x="233031" y="3825443"/>
                    </a:cubicBezTo>
                    <a:cubicBezTo>
                      <a:pt x="178421" y="3741623"/>
                      <a:pt x="108571" y="3614623"/>
                      <a:pt x="73011" y="3526993"/>
                    </a:cubicBezTo>
                    <a:cubicBezTo>
                      <a:pt x="46341" y="3463493"/>
                      <a:pt x="31101" y="3419043"/>
                      <a:pt x="19671" y="3354273"/>
                    </a:cubicBezTo>
                    <a:cubicBezTo>
                      <a:pt x="5701" y="3278073"/>
                      <a:pt x="-6999" y="3172663"/>
                      <a:pt x="4431" y="3099003"/>
                    </a:cubicBezTo>
                    <a:cubicBezTo>
                      <a:pt x="14591" y="3036773"/>
                      <a:pt x="38721" y="2978353"/>
                      <a:pt x="70471" y="2936443"/>
                    </a:cubicBezTo>
                    <a:cubicBezTo>
                      <a:pt x="98411" y="2899613"/>
                      <a:pt x="132701" y="2879293"/>
                      <a:pt x="175881" y="2852623"/>
                    </a:cubicBezTo>
                    <a:cubicBezTo>
                      <a:pt x="234301" y="2817063"/>
                      <a:pt x="299071" y="2786583"/>
                      <a:pt x="394321" y="2749753"/>
                    </a:cubicBezTo>
                    <a:cubicBezTo>
                      <a:pt x="560691" y="2683713"/>
                      <a:pt x="946771" y="2594813"/>
                      <a:pt x="1099171" y="2526233"/>
                    </a:cubicBezTo>
                    <a:cubicBezTo>
                      <a:pt x="1177911" y="2490673"/>
                      <a:pt x="1205851" y="2471623"/>
                      <a:pt x="1270621" y="2424633"/>
                    </a:cubicBezTo>
                    <a:cubicBezTo>
                      <a:pt x="1369681" y="2350973"/>
                      <a:pt x="1499221" y="2220163"/>
                      <a:pt x="1619871" y="2105863"/>
                    </a:cubicBezTo>
                    <a:cubicBezTo>
                      <a:pt x="1753221" y="1977593"/>
                      <a:pt x="1922131" y="1820113"/>
                      <a:pt x="2033891" y="1691843"/>
                    </a:cubicBezTo>
                    <a:cubicBezTo>
                      <a:pt x="2120251" y="1592783"/>
                      <a:pt x="2187561" y="1503883"/>
                      <a:pt x="2245981" y="1409903"/>
                    </a:cubicBezTo>
                    <a:cubicBezTo>
                      <a:pt x="2296781" y="1327353"/>
                      <a:pt x="2332341" y="1257503"/>
                      <a:pt x="2371711" y="1163523"/>
                    </a:cubicBezTo>
                    <a:cubicBezTo>
                      <a:pt x="2419971" y="1044143"/>
                      <a:pt x="2464421" y="848563"/>
                      <a:pt x="2503791" y="744423"/>
                    </a:cubicBezTo>
                    <a:cubicBezTo>
                      <a:pt x="2527921" y="680923"/>
                      <a:pt x="2540621" y="649173"/>
                      <a:pt x="2571101" y="593293"/>
                    </a:cubicBezTo>
                    <a:cubicBezTo>
                      <a:pt x="2611741" y="517093"/>
                      <a:pt x="2684131" y="405333"/>
                      <a:pt x="2738741" y="335483"/>
                    </a:cubicBezTo>
                    <a:cubicBezTo>
                      <a:pt x="2780651" y="280873"/>
                      <a:pt x="2814941" y="237693"/>
                      <a:pt x="2863201" y="202133"/>
                    </a:cubicBezTo>
                    <a:cubicBezTo>
                      <a:pt x="2912731" y="165303"/>
                      <a:pt x="2968611" y="142443"/>
                      <a:pt x="3033381" y="117043"/>
                    </a:cubicBezTo>
                    <a:cubicBezTo>
                      <a:pt x="3112121" y="86563"/>
                      <a:pt x="3216261" y="58623"/>
                      <a:pt x="3301351" y="38303"/>
                    </a:cubicBezTo>
                    <a:cubicBezTo>
                      <a:pt x="3376281" y="21793"/>
                      <a:pt x="3439781" y="6553"/>
                      <a:pt x="3518521" y="1473"/>
                    </a:cubicBezTo>
                    <a:cubicBezTo>
                      <a:pt x="3611231" y="-3607"/>
                      <a:pt x="3716641" y="5283"/>
                      <a:pt x="3823321" y="15443"/>
                    </a:cubicBezTo>
                    <a:cubicBezTo>
                      <a:pt x="3937621" y="25603"/>
                      <a:pt x="4079861" y="44653"/>
                      <a:pt x="4181461" y="64973"/>
                    </a:cubicBezTo>
                    <a:cubicBezTo>
                      <a:pt x="4256391" y="78943"/>
                      <a:pt x="4352911" y="90373"/>
                      <a:pt x="4375771" y="111963"/>
                    </a:cubicBezTo>
                    <a:cubicBezTo>
                      <a:pt x="4384661" y="120853"/>
                      <a:pt x="4387201" y="132283"/>
                      <a:pt x="4383391" y="138633"/>
                    </a:cubicBezTo>
                    <a:cubicBezTo>
                      <a:pt x="4380851" y="144983"/>
                      <a:pt x="4359261" y="150063"/>
                      <a:pt x="4359261" y="150063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7193041" y="1664480"/>
              <a:ext cx="223520" cy="322580"/>
              <a:chOff x="0" y="0"/>
              <a:chExt cx="223520" cy="3225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50498" y="50603"/>
                <a:ext cx="122251" cy="221373"/>
              </a:xfrm>
              <a:custGeom>
                <a:avLst/>
                <a:gdLst/>
                <a:ahLst/>
                <a:cxnLst/>
                <a:rect r="r" b="b" t="t" l="l"/>
                <a:pathLst>
                  <a:path h="221373" w="122251">
                    <a:moveTo>
                      <a:pt x="51102" y="20517"/>
                    </a:moveTo>
                    <a:cubicBezTo>
                      <a:pt x="82852" y="138627"/>
                      <a:pt x="123492" y="174187"/>
                      <a:pt x="122222" y="193237"/>
                    </a:cubicBezTo>
                    <a:cubicBezTo>
                      <a:pt x="122222" y="204667"/>
                      <a:pt x="112062" y="217367"/>
                      <a:pt x="103172" y="219907"/>
                    </a:cubicBezTo>
                    <a:cubicBezTo>
                      <a:pt x="95552" y="222447"/>
                      <a:pt x="76502" y="216097"/>
                      <a:pt x="72692" y="208477"/>
                    </a:cubicBezTo>
                    <a:cubicBezTo>
                      <a:pt x="68882" y="199587"/>
                      <a:pt x="76502" y="176727"/>
                      <a:pt x="82852" y="170377"/>
                    </a:cubicBezTo>
                    <a:cubicBezTo>
                      <a:pt x="89202" y="166567"/>
                      <a:pt x="101902" y="167837"/>
                      <a:pt x="108252" y="170377"/>
                    </a:cubicBezTo>
                    <a:cubicBezTo>
                      <a:pt x="114602" y="174187"/>
                      <a:pt x="122222" y="183077"/>
                      <a:pt x="122222" y="190697"/>
                    </a:cubicBezTo>
                    <a:cubicBezTo>
                      <a:pt x="122222" y="199587"/>
                      <a:pt x="106982" y="218637"/>
                      <a:pt x="98092" y="221177"/>
                    </a:cubicBezTo>
                    <a:cubicBezTo>
                      <a:pt x="90472" y="222447"/>
                      <a:pt x="82852" y="217367"/>
                      <a:pt x="75232" y="211017"/>
                    </a:cubicBezTo>
                    <a:cubicBezTo>
                      <a:pt x="58722" y="197047"/>
                      <a:pt x="35862" y="157677"/>
                      <a:pt x="24432" y="128467"/>
                    </a:cubicBezTo>
                    <a:cubicBezTo>
                      <a:pt x="11732" y="97987"/>
                      <a:pt x="-2238" y="52267"/>
                      <a:pt x="302" y="29407"/>
                    </a:cubicBezTo>
                    <a:cubicBezTo>
                      <a:pt x="2842" y="16707"/>
                      <a:pt x="10462" y="2737"/>
                      <a:pt x="18082" y="197"/>
                    </a:cubicBezTo>
                    <a:cubicBezTo>
                      <a:pt x="26972" y="-2343"/>
                      <a:pt x="51102" y="20517"/>
                      <a:pt x="51102" y="20517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7110491" y="1566690"/>
              <a:ext cx="444500" cy="500380"/>
              <a:chOff x="0" y="0"/>
              <a:chExt cx="444500" cy="50038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50800" y="48017"/>
                <a:ext cx="344349" cy="403341"/>
              </a:xfrm>
              <a:custGeom>
                <a:avLst/>
                <a:gdLst/>
                <a:ahLst/>
                <a:cxnLst/>
                <a:rect r="r" b="b" t="t" l="l"/>
                <a:pathLst>
                  <a:path h="403341" w="344349">
                    <a:moveTo>
                      <a:pt x="0" y="204713"/>
                    </a:moveTo>
                    <a:cubicBezTo>
                      <a:pt x="38100" y="77713"/>
                      <a:pt x="49530" y="47233"/>
                      <a:pt x="68580" y="30723"/>
                    </a:cubicBezTo>
                    <a:cubicBezTo>
                      <a:pt x="86360" y="15483"/>
                      <a:pt x="106680" y="6593"/>
                      <a:pt x="130810" y="2783"/>
                    </a:cubicBezTo>
                    <a:cubicBezTo>
                      <a:pt x="160020" y="-2297"/>
                      <a:pt x="205740" y="-1027"/>
                      <a:pt x="229870" y="11673"/>
                    </a:cubicBezTo>
                    <a:cubicBezTo>
                      <a:pt x="250190" y="21833"/>
                      <a:pt x="266700" y="42153"/>
                      <a:pt x="273050" y="63743"/>
                    </a:cubicBezTo>
                    <a:cubicBezTo>
                      <a:pt x="281940" y="90413"/>
                      <a:pt x="279400" y="134863"/>
                      <a:pt x="270510" y="160263"/>
                    </a:cubicBezTo>
                    <a:cubicBezTo>
                      <a:pt x="264160" y="180583"/>
                      <a:pt x="251460" y="194553"/>
                      <a:pt x="237490" y="208523"/>
                    </a:cubicBezTo>
                    <a:cubicBezTo>
                      <a:pt x="220980" y="222493"/>
                      <a:pt x="193040" y="242813"/>
                      <a:pt x="173990" y="242813"/>
                    </a:cubicBezTo>
                    <a:cubicBezTo>
                      <a:pt x="160020" y="244083"/>
                      <a:pt x="139700" y="233923"/>
                      <a:pt x="134620" y="225033"/>
                    </a:cubicBezTo>
                    <a:cubicBezTo>
                      <a:pt x="130810" y="217413"/>
                      <a:pt x="134620" y="205983"/>
                      <a:pt x="139700" y="198363"/>
                    </a:cubicBezTo>
                    <a:cubicBezTo>
                      <a:pt x="147320" y="189473"/>
                      <a:pt x="165100" y="180583"/>
                      <a:pt x="182880" y="176773"/>
                    </a:cubicBezTo>
                    <a:cubicBezTo>
                      <a:pt x="207010" y="172963"/>
                      <a:pt x="246380" y="175503"/>
                      <a:pt x="271780" y="186933"/>
                    </a:cubicBezTo>
                    <a:cubicBezTo>
                      <a:pt x="297180" y="199633"/>
                      <a:pt x="321310" y="226303"/>
                      <a:pt x="332740" y="249163"/>
                    </a:cubicBezTo>
                    <a:cubicBezTo>
                      <a:pt x="342900" y="269483"/>
                      <a:pt x="346710" y="293613"/>
                      <a:pt x="342900" y="313933"/>
                    </a:cubicBezTo>
                    <a:cubicBezTo>
                      <a:pt x="339090" y="332983"/>
                      <a:pt x="326390" y="353303"/>
                      <a:pt x="313690" y="368543"/>
                    </a:cubicBezTo>
                    <a:cubicBezTo>
                      <a:pt x="299720" y="382513"/>
                      <a:pt x="278130" y="396483"/>
                      <a:pt x="259080" y="400293"/>
                    </a:cubicBezTo>
                    <a:cubicBezTo>
                      <a:pt x="241300" y="405373"/>
                      <a:pt x="220980" y="404103"/>
                      <a:pt x="203200" y="396483"/>
                    </a:cubicBezTo>
                    <a:cubicBezTo>
                      <a:pt x="182880" y="388863"/>
                      <a:pt x="156210" y="371083"/>
                      <a:pt x="146050" y="349493"/>
                    </a:cubicBezTo>
                    <a:cubicBezTo>
                      <a:pt x="133350" y="325363"/>
                      <a:pt x="128270" y="274563"/>
                      <a:pt x="138430" y="259323"/>
                    </a:cubicBezTo>
                    <a:cubicBezTo>
                      <a:pt x="144780" y="250433"/>
                      <a:pt x="163830" y="246623"/>
                      <a:pt x="172720" y="250433"/>
                    </a:cubicBezTo>
                    <a:cubicBezTo>
                      <a:pt x="181610" y="252973"/>
                      <a:pt x="191770" y="270753"/>
                      <a:pt x="190500" y="280913"/>
                    </a:cubicBezTo>
                    <a:cubicBezTo>
                      <a:pt x="190500" y="288533"/>
                      <a:pt x="182880" y="298693"/>
                      <a:pt x="175260" y="302503"/>
                    </a:cubicBezTo>
                    <a:cubicBezTo>
                      <a:pt x="168910" y="306313"/>
                      <a:pt x="154940" y="306313"/>
                      <a:pt x="148590" y="302503"/>
                    </a:cubicBezTo>
                    <a:cubicBezTo>
                      <a:pt x="140970" y="298693"/>
                      <a:pt x="133350" y="288533"/>
                      <a:pt x="133350" y="279643"/>
                    </a:cubicBezTo>
                    <a:cubicBezTo>
                      <a:pt x="132080" y="270753"/>
                      <a:pt x="142240" y="252973"/>
                      <a:pt x="151130" y="250433"/>
                    </a:cubicBezTo>
                    <a:cubicBezTo>
                      <a:pt x="160020" y="246623"/>
                      <a:pt x="176530" y="250433"/>
                      <a:pt x="185420" y="259323"/>
                    </a:cubicBezTo>
                    <a:cubicBezTo>
                      <a:pt x="196850" y="272023"/>
                      <a:pt x="191770" y="312663"/>
                      <a:pt x="200660" y="326633"/>
                    </a:cubicBezTo>
                    <a:cubicBezTo>
                      <a:pt x="205740" y="335523"/>
                      <a:pt x="214630" y="339333"/>
                      <a:pt x="222250" y="341873"/>
                    </a:cubicBezTo>
                    <a:cubicBezTo>
                      <a:pt x="231140" y="344413"/>
                      <a:pt x="242570" y="346953"/>
                      <a:pt x="250190" y="343143"/>
                    </a:cubicBezTo>
                    <a:cubicBezTo>
                      <a:pt x="262890" y="338063"/>
                      <a:pt x="281940" y="313933"/>
                      <a:pt x="284480" y="298693"/>
                    </a:cubicBezTo>
                    <a:cubicBezTo>
                      <a:pt x="287020" y="282183"/>
                      <a:pt x="274320" y="259323"/>
                      <a:pt x="265430" y="247893"/>
                    </a:cubicBezTo>
                    <a:cubicBezTo>
                      <a:pt x="257810" y="240273"/>
                      <a:pt x="247650" y="235193"/>
                      <a:pt x="234950" y="233923"/>
                    </a:cubicBezTo>
                    <a:cubicBezTo>
                      <a:pt x="215900" y="231383"/>
                      <a:pt x="179070" y="249163"/>
                      <a:pt x="161290" y="245353"/>
                    </a:cubicBezTo>
                    <a:cubicBezTo>
                      <a:pt x="148590" y="241543"/>
                      <a:pt x="137160" y="233923"/>
                      <a:pt x="134620" y="225033"/>
                    </a:cubicBezTo>
                    <a:cubicBezTo>
                      <a:pt x="132080" y="216143"/>
                      <a:pt x="137160" y="203443"/>
                      <a:pt x="144780" y="193283"/>
                    </a:cubicBezTo>
                    <a:cubicBezTo>
                      <a:pt x="157480" y="176773"/>
                      <a:pt x="203200" y="164073"/>
                      <a:pt x="215900" y="145023"/>
                    </a:cubicBezTo>
                    <a:cubicBezTo>
                      <a:pt x="226060" y="129783"/>
                      <a:pt x="226060" y="106923"/>
                      <a:pt x="223520" y="91683"/>
                    </a:cubicBezTo>
                    <a:cubicBezTo>
                      <a:pt x="222250" y="80253"/>
                      <a:pt x="218440" y="68823"/>
                      <a:pt x="208280" y="62473"/>
                    </a:cubicBezTo>
                    <a:cubicBezTo>
                      <a:pt x="191770" y="52313"/>
                      <a:pt x="142240" y="52313"/>
                      <a:pt x="123190" y="57393"/>
                    </a:cubicBezTo>
                    <a:cubicBezTo>
                      <a:pt x="113030" y="59933"/>
                      <a:pt x="109220" y="62473"/>
                      <a:pt x="101600" y="71363"/>
                    </a:cubicBezTo>
                    <a:cubicBezTo>
                      <a:pt x="83820" y="94223"/>
                      <a:pt x="69850" y="204713"/>
                      <a:pt x="46990" y="223763"/>
                    </a:cubicBezTo>
                    <a:cubicBezTo>
                      <a:pt x="36830" y="232653"/>
                      <a:pt x="21590" y="235193"/>
                      <a:pt x="13970" y="231383"/>
                    </a:cubicBezTo>
                    <a:cubicBezTo>
                      <a:pt x="6350" y="227573"/>
                      <a:pt x="0" y="204713"/>
                      <a:pt x="0" y="204713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TextBox 31" id="31"/>
          <p:cNvSpPr txBox="true"/>
          <p:nvPr/>
        </p:nvSpPr>
        <p:spPr>
          <a:xfrm rot="0">
            <a:off x="1028700" y="1104900"/>
            <a:ext cx="12371143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3422" y="2455766"/>
            <a:ext cx="7171066" cy="5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9">
                <a:solidFill>
                  <a:srgbClr val="3665B6"/>
                </a:solidFill>
                <a:latin typeface="Poppins"/>
                <a:ea typeface="Poppins"/>
                <a:cs typeface="Poppins"/>
                <a:sym typeface="Poppins"/>
              </a:rPr>
              <a:t>Prompts e respostas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04900"/>
            <a:ext cx="9177246" cy="11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8"/>
              </a:lnSpc>
            </a:pPr>
            <a:r>
              <a:rPr lang="en-US" sz="7938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Limitações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48753"/>
            <a:ext cx="14708512" cy="433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</a:p>
          <a:p>
            <a:pPr algn="l" marL="484136" indent="-242068" lvl="1">
              <a:lnSpc>
                <a:spcPts val="4013"/>
              </a:lnSpc>
              <a:buFont typeface="Arial"/>
              <a:buChar char="•"/>
            </a:pPr>
            <a:r>
              <a:rPr lang="en-US" sz="2242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Para encontrar relações visualmente mais fortes, é interessante selecionar fontes com contextos semelhantes.</a:t>
            </a:r>
          </a:p>
          <a:p>
            <a:pPr algn="l" marL="484136" indent="-242068" lvl="1">
              <a:lnSpc>
                <a:spcPts val="4013"/>
              </a:lnSpc>
              <a:buFont typeface="Arial"/>
              <a:buChar char="•"/>
            </a:pPr>
            <a:r>
              <a:rPr lang="en-US" sz="2242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O Grafo mostra que temas estão ligados, mas não diz com precisão "quem influenciou quem" cronologicamente.</a:t>
            </a:r>
          </a:p>
          <a:p>
            <a:pPr algn="l" marL="484136" indent="-242068" lvl="1">
              <a:lnSpc>
                <a:spcPts val="4013"/>
              </a:lnSpc>
              <a:buFont typeface="Arial"/>
              <a:buChar char="•"/>
            </a:pPr>
            <a:r>
              <a:rPr lang="en-US" sz="2242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Fontes de vídeo exigem um pré-processamento de limpeza mais rigoroso para não gerar nós equivocados no Knowledge Graph.</a:t>
            </a:r>
          </a:p>
          <a:p>
            <a:pPr algn="l" marL="484136" indent="-242068" lvl="1">
              <a:lnSpc>
                <a:spcPts val="4013"/>
              </a:lnSpc>
              <a:buFont typeface="Arial"/>
              <a:buChar char="•"/>
            </a:pPr>
            <a:r>
              <a:rPr lang="en-US" sz="2242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O grafo pode simplificar demais relações que o LLM descreve com mais nuance e tom crítico.</a:t>
            </a:r>
          </a:p>
          <a:p>
            <a:pPr algn="l">
              <a:lnSpc>
                <a:spcPts val="322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06636"/>
            <a:ext cx="9128872" cy="165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00"/>
              </a:lnSpc>
            </a:pPr>
            <a:r>
              <a:rPr lang="en-US" sz="11600" b="true">
                <a:solidFill>
                  <a:srgbClr val="4F7662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8315376" cy="51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PPGEEC2327 - TÓPICOS ESPECIAIS EM PROCESSAMENTO INTELIGENTE DA INFORMAÇÃO</a:t>
            </a:r>
          </a:p>
          <a:p>
            <a:pPr algn="l">
              <a:lnSpc>
                <a:spcPts val="2096"/>
              </a:lnSpc>
              <a:spcBef>
                <a:spcPct val="0"/>
              </a:spcBef>
            </a:pPr>
            <a:r>
              <a:rPr lang="en-US" sz="1497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97236" y="8074869"/>
            <a:ext cx="3762064" cy="118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Bruno Paiva</a:t>
            </a:r>
          </a:p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Manoel Neto</a:t>
            </a:r>
          </a:p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Mariana Queiroz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02816"/>
            <a:ext cx="8910135" cy="257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6"/>
              </a:lnSpc>
              <a:spcBef>
                <a:spcPct val="0"/>
              </a:spcBef>
            </a:pPr>
            <a:r>
              <a:rPr lang="en-US" sz="1497">
                <a:solidFill>
                  <a:srgbClr val="001C42"/>
                </a:solidFill>
                <a:latin typeface="Poppins"/>
                <a:ea typeface="Poppins"/>
                <a:cs typeface="Poppins"/>
                <a:sym typeface="Poppins"/>
              </a:rPr>
              <a:t>Código fonte, referências e outputs: https://github.com/brunopaiva1/ai-governance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DAHISjR3OWM</dc:identifier>
  <dcterms:modified xsi:type="dcterms:W3CDTF">2011-08-01T06:04:30Z</dcterms:modified>
  <cp:revision>1</cp:revision>
  <dc:title>A apresentação deve contemplar, de forma clara: Problema O que está sendo resolvido? Por que isso é relevante? Abordagem Como as ferramentas foram utilizadas? Como isso se conecta ao tema escolhido? Evidências Resultados obtidos (outputs, exemplos,</dc:title>
</cp:coreProperties>
</file>